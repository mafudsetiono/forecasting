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4630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Segoe UI"/>
              </a:rPr>
              <a:t>SALES DEMAND FORECASTING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3FA7FF"/>
                </a:solidFill>
                <a:latin typeface="Segoe UI"/>
              </a:rPr>
              <a:t>Retail Analytics &amp; Prophet Time-Series Portfolio  •  Sample Superstore 2014–2017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63040" y="3840480"/>
            <a:ext cx="2743200" cy="1371600"/>
          </a:xfrm>
          <a:prstGeom prst="roundRect">
            <a:avLst/>
          </a:prstGeom>
          <a:solidFill>
            <a:srgbClr val="1B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645920" y="39776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A9B7CC"/>
                </a:solidFill>
                <a:latin typeface="Segoe UI"/>
              </a:rPr>
              <a:t>Rows</a:t>
            </a:r>
          </a:p>
          <a:p>
            <a:pPr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9.994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3840480"/>
            <a:ext cx="2743200" cy="1371600"/>
          </a:xfrm>
          <a:prstGeom prst="roundRect">
            <a:avLst/>
          </a:prstGeom>
          <a:solidFill>
            <a:srgbClr val="1B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54880" y="39776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A9B7CC"/>
                </a:solidFill>
                <a:latin typeface="Segoe UI"/>
              </a:rPr>
              <a:t>Target</a:t>
            </a:r>
          </a:p>
          <a:p>
            <a:pPr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Sales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3840480"/>
            <a:ext cx="2743200" cy="1371600"/>
          </a:xfrm>
          <a:prstGeom prst="roundRect">
            <a:avLst/>
          </a:prstGeom>
          <a:solidFill>
            <a:srgbClr val="1B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63840" y="39776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A9B7CC"/>
                </a:solidFill>
                <a:latin typeface="Segoe UI"/>
              </a:rPr>
              <a:t>Periode</a:t>
            </a:r>
          </a:p>
          <a:p>
            <a:pPr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2014–2017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669280"/>
            <a:ext cx="103327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 dirty="0" err="1">
                <a:solidFill>
                  <a:srgbClr val="A9B7CC"/>
                </a:solidFill>
                <a:latin typeface="Segoe UI"/>
              </a:rPr>
              <a:t>Mafud</a:t>
            </a:r>
            <a:r>
              <a:rPr sz="1300" b="0" dirty="0">
                <a:solidFill>
                  <a:srgbClr val="A9B7CC"/>
                </a:solidFill>
                <a:latin typeface="Segoe UI"/>
              </a:rPr>
              <a:t> </a:t>
            </a:r>
            <a:r>
              <a:rPr sz="1300" b="0" dirty="0" err="1">
                <a:solidFill>
                  <a:srgbClr val="A9B7CC"/>
                </a:solidFill>
                <a:latin typeface="Segoe UI"/>
              </a:rPr>
              <a:t>Satrio</a:t>
            </a:r>
            <a:r>
              <a:rPr sz="1300" b="0" dirty="0">
                <a:solidFill>
                  <a:srgbClr val="A9B7CC"/>
                </a:solidFill>
                <a:latin typeface="Segoe UI"/>
              </a:rPr>
              <a:t> </a:t>
            </a:r>
            <a:r>
              <a:rPr sz="1300" b="0" dirty="0" err="1">
                <a:solidFill>
                  <a:srgbClr val="A9B7CC"/>
                </a:solidFill>
                <a:latin typeface="Segoe UI"/>
              </a:rPr>
              <a:t>Setiono</a:t>
            </a:r>
            <a:endParaRPr sz="1300" b="0" dirty="0">
              <a:solidFill>
                <a:srgbClr val="A9B7CC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3FA7FF"/>
                </a:solidFill>
                <a:latin typeface="Segoe U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828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Business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7772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A9B7CC"/>
                </a:solidFill>
                <a:latin typeface="Segoe UI"/>
              </a:rPr>
              <a:t>Retail butuh forecast akurat untuk stok, target, dan modal kerja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234440"/>
            <a:ext cx="10698480" cy="25400"/>
          </a:xfrm>
          <a:prstGeom prst="rect">
            <a:avLst/>
          </a:prstGeom>
          <a:solidFill>
            <a:srgbClr val="3F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2011680"/>
            <a:ext cx="3200400" cy="2377440"/>
          </a:xfrm>
          <a:prstGeom prst="roundRect">
            <a:avLst/>
          </a:prstGeom>
          <a:solidFill>
            <a:srgbClr val="1B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2834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 b="1">
                <a:solidFill>
                  <a:srgbClr val="3FA7FF"/>
                </a:solidFill>
                <a:latin typeface="Segoe UI"/>
              </a:rPr>
              <a:t>Overstock /
Stockout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Segoe UI"/>
              </a:rPr>
              <a:t>Stok menumpuk atau kosong di momen puncak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11680"/>
            <a:ext cx="3200400" cy="2377440"/>
          </a:xfrm>
          <a:prstGeom prst="roundRect">
            <a:avLst/>
          </a:prstGeom>
          <a:solidFill>
            <a:srgbClr val="1B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2194560"/>
            <a:ext cx="2834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 b="1">
                <a:solidFill>
                  <a:srgbClr val="3FA7FF"/>
                </a:solidFill>
                <a:latin typeface="Segoe UI"/>
              </a:rPr>
              <a:t>Target
Tidak Realistis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Segoe UI"/>
              </a:rPr>
              <a:t>Target rata gagal di musim rendah Q1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2011680"/>
            <a:ext cx="3200400" cy="2377440"/>
          </a:xfrm>
          <a:prstGeom prst="roundRect">
            <a:avLst/>
          </a:prstGeom>
          <a:solidFill>
            <a:srgbClr val="1B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38160" y="2194560"/>
            <a:ext cx="2834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 b="1">
                <a:solidFill>
                  <a:srgbClr val="3FA7FF"/>
                </a:solidFill>
                <a:latin typeface="Segoe UI"/>
              </a:rPr>
              <a:t>Promo
Menggerus Margin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Segoe UI"/>
              </a:rPr>
              <a:t>18,7% order rugi akibat diskon agresif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846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Segoe UI"/>
              </a:rPr>
              <a:t>Solusi: dashboard interaktif + forecast Prophet (M/W) dengan interval risiko → keputusan stok &amp; target berbasis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3FA7FF"/>
                </a:solidFill>
                <a:latin typeface="Segoe U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828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Dataset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7772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A9B7CC"/>
                </a:solidFill>
                <a:latin typeface="Segoe UI"/>
              </a:rPr>
              <a:t>sample_superstore.csv  •  2014-01-03 → 2017-12-30  •  nol missing, nol duplikat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234440"/>
            <a:ext cx="10698480" cy="25400"/>
          </a:xfrm>
          <a:prstGeom prst="rect">
            <a:avLst/>
          </a:prstGeom>
          <a:solidFill>
            <a:srgbClr val="3F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965960" cy="1371600"/>
          </a:xfrm>
          <a:prstGeom prst="roundRect">
            <a:avLst/>
          </a:prstGeom>
          <a:solidFill>
            <a:srgbClr val="1B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965960"/>
            <a:ext cx="1600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 dirty="0">
                <a:solidFill>
                  <a:srgbClr val="A9B7CC"/>
                </a:solidFill>
                <a:latin typeface="Segoe UI"/>
              </a:rPr>
              <a:t>Total Sales</a:t>
            </a:r>
          </a:p>
          <a:p>
            <a:pPr>
              <a:spcAft>
                <a:spcPts val="200"/>
              </a:spcAft>
            </a:pPr>
            <a:r>
              <a:rPr sz="2200" b="1" dirty="0">
                <a:solidFill>
                  <a:srgbClr val="FFFFFF"/>
                </a:solidFill>
                <a:latin typeface="Segoe UI"/>
              </a:rPr>
              <a:t>$2.297.201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1828800"/>
            <a:ext cx="1965960" cy="1371600"/>
          </a:xfrm>
          <a:prstGeom prst="roundRect">
            <a:avLst/>
          </a:prstGeom>
          <a:solidFill>
            <a:srgbClr val="1B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63240" y="1965960"/>
            <a:ext cx="1600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A9B7CC"/>
                </a:solidFill>
                <a:latin typeface="Segoe UI"/>
              </a:rPr>
              <a:t>Total Profit</a:t>
            </a:r>
          </a:p>
          <a:p>
            <a:pPr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$286.397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1828800"/>
            <a:ext cx="1965960" cy="1371600"/>
          </a:xfrm>
          <a:prstGeom prst="roundRect">
            <a:avLst/>
          </a:prstGeom>
          <a:solidFill>
            <a:srgbClr val="1B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03520" y="1965960"/>
            <a:ext cx="1600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A9B7CC"/>
                </a:solidFill>
                <a:latin typeface="Segoe UI"/>
              </a:rPr>
              <a:t>Orders</a:t>
            </a:r>
          </a:p>
          <a:p>
            <a:pPr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5.009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0920" y="1828800"/>
            <a:ext cx="1965960" cy="1371600"/>
          </a:xfrm>
          <a:prstGeom prst="roundRect">
            <a:avLst/>
          </a:prstGeom>
          <a:solidFill>
            <a:srgbClr val="1B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43800" y="1965960"/>
            <a:ext cx="1600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A9B7CC"/>
                </a:solidFill>
                <a:latin typeface="Segoe UI"/>
              </a:rPr>
              <a:t>Customers</a:t>
            </a:r>
          </a:p>
          <a:p>
            <a:pPr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793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0" y="1828800"/>
            <a:ext cx="1965960" cy="1371600"/>
          </a:xfrm>
          <a:prstGeom prst="roundRect">
            <a:avLst/>
          </a:prstGeom>
          <a:solidFill>
            <a:srgbClr val="1B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784080" y="1965960"/>
            <a:ext cx="1600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A9B7CC"/>
                </a:solidFill>
                <a:latin typeface="Segoe UI"/>
              </a:rPr>
              <a:t>YoY 2014→2017</a:t>
            </a:r>
          </a:p>
          <a:p>
            <a:pPr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+51%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749039"/>
            <a:ext cx="10881360" cy="1646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 dirty="0">
                <a:solidFill>
                  <a:srgbClr val="FFFFFF"/>
                </a:solidFill>
                <a:latin typeface="Segoe UI"/>
              </a:rPr>
              <a:t>Kolom </a:t>
            </a:r>
            <a:r>
              <a:rPr sz="1300" b="1" dirty="0" err="1">
                <a:solidFill>
                  <a:srgbClr val="FFFFFF"/>
                </a:solidFill>
                <a:latin typeface="Segoe UI"/>
              </a:rPr>
              <a:t>kunci</a:t>
            </a:r>
            <a:r>
              <a:rPr sz="1300" b="1" dirty="0">
                <a:solidFill>
                  <a:srgbClr val="FFFFFF"/>
                </a:solidFill>
                <a:latin typeface="Segoe UI"/>
              </a:rPr>
              <a:t>: </a:t>
            </a:r>
            <a:endParaRPr lang="en-US" sz="1300" b="1" dirty="0">
              <a:solidFill>
                <a:srgbClr val="FFFFFF"/>
              </a:solidFill>
              <a:latin typeface="Segoe UI"/>
            </a:endParaRP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dirty="0">
                <a:solidFill>
                  <a:srgbClr val="A9B7CC"/>
                </a:solidFill>
                <a:latin typeface="Segoe UI"/>
              </a:rPr>
              <a:t>Order Date (</a:t>
            </a:r>
            <a:r>
              <a:rPr sz="1300" b="0" dirty="0" err="1">
                <a:solidFill>
                  <a:srgbClr val="A9B7CC"/>
                </a:solidFill>
                <a:latin typeface="Segoe UI"/>
              </a:rPr>
              <a:t>tanggal</a:t>
            </a:r>
            <a:r>
              <a:rPr sz="1300" b="0" dirty="0">
                <a:solidFill>
                  <a:srgbClr val="A9B7CC"/>
                </a:solidFill>
                <a:latin typeface="Segoe UI"/>
              </a:rPr>
              <a:t>)</a:t>
            </a:r>
            <a:endParaRPr lang="en-US" sz="1300" b="0" dirty="0">
              <a:solidFill>
                <a:srgbClr val="A9B7CC"/>
              </a:solidFill>
              <a:latin typeface="Segoe UI"/>
            </a:endParaRP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dirty="0">
                <a:solidFill>
                  <a:srgbClr val="A9B7CC"/>
                </a:solidFill>
                <a:latin typeface="Segoe UI"/>
              </a:rPr>
              <a:t>Sales (target)</a:t>
            </a:r>
            <a:endParaRPr lang="en-US" sz="1300" b="0" dirty="0">
              <a:solidFill>
                <a:srgbClr val="A9B7CC"/>
              </a:solidFill>
              <a:latin typeface="Segoe UI"/>
            </a:endParaRP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dirty="0">
                <a:solidFill>
                  <a:srgbClr val="A9B7CC"/>
                </a:solidFill>
                <a:latin typeface="Segoe UI"/>
              </a:rPr>
              <a:t>Category / Region / Segment / Sub-Category / Product Name</a:t>
            </a:r>
            <a:endParaRPr lang="en-US" sz="1300" b="0" dirty="0">
              <a:solidFill>
                <a:srgbClr val="A9B7CC"/>
              </a:solidFill>
              <a:latin typeface="Segoe UI"/>
            </a:endParaRP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0" dirty="0">
                <a:solidFill>
                  <a:srgbClr val="A9B7CC"/>
                </a:solidFill>
                <a:latin typeface="Segoe UI"/>
              </a:rPr>
              <a:t>Profit / Quantity / Discount</a:t>
            </a:r>
          </a:p>
          <a:p>
            <a:pPr>
              <a:spcAft>
                <a:spcPts val="200"/>
              </a:spcAft>
            </a:pPr>
            <a:r>
              <a:rPr sz="1300" b="1" dirty="0" err="1">
                <a:solidFill>
                  <a:srgbClr val="FFFFFF"/>
                </a:solidFill>
                <a:latin typeface="Segoe UI"/>
              </a:rPr>
              <a:t>Kualitas</a:t>
            </a:r>
            <a:r>
              <a:rPr sz="1300" b="1" dirty="0">
                <a:solidFill>
                  <a:srgbClr val="FFFFFF"/>
                </a:solidFill>
                <a:latin typeface="Segoe UI"/>
              </a:rPr>
              <a:t>: </a:t>
            </a:r>
            <a:r>
              <a:rPr sz="1300" b="0" dirty="0">
                <a:solidFill>
                  <a:srgbClr val="A9B7CC"/>
                </a:solidFill>
                <a:latin typeface="Segoe UI"/>
              </a:rPr>
              <a:t>21 </a:t>
            </a:r>
            <a:r>
              <a:rPr sz="1300" b="0" dirty="0" err="1">
                <a:solidFill>
                  <a:srgbClr val="A9B7CC"/>
                </a:solidFill>
                <a:latin typeface="Segoe UI"/>
              </a:rPr>
              <a:t>kolom</a:t>
            </a:r>
            <a:r>
              <a:rPr sz="1300" b="0" dirty="0">
                <a:solidFill>
                  <a:srgbClr val="A9B7CC"/>
                </a:solidFill>
                <a:latin typeface="Segoe UI"/>
              </a:rPr>
              <a:t>, 9.994 baris — </a:t>
            </a:r>
            <a:r>
              <a:rPr sz="1300" b="0" dirty="0" err="1">
                <a:solidFill>
                  <a:srgbClr val="A9B7CC"/>
                </a:solidFill>
                <a:latin typeface="Segoe UI"/>
              </a:rPr>
              <a:t>siap</a:t>
            </a:r>
            <a:r>
              <a:rPr sz="1300" b="0" dirty="0">
                <a:solidFill>
                  <a:srgbClr val="A9B7CC"/>
                </a:solidFill>
                <a:latin typeface="Segoe UI"/>
              </a:rPr>
              <a:t> modelling </a:t>
            </a:r>
            <a:r>
              <a:rPr sz="1300" b="0" dirty="0" err="1">
                <a:solidFill>
                  <a:srgbClr val="A9B7CC"/>
                </a:solidFill>
                <a:latin typeface="Segoe UI"/>
              </a:rPr>
              <a:t>tanpa</a:t>
            </a:r>
            <a:r>
              <a:rPr sz="1300" b="0" dirty="0">
                <a:solidFill>
                  <a:srgbClr val="A9B7CC"/>
                </a:solidFill>
                <a:latin typeface="Segoe UI"/>
              </a:rPr>
              <a:t> </a:t>
            </a:r>
            <a:r>
              <a:rPr sz="1300" b="0" dirty="0" err="1">
                <a:solidFill>
                  <a:srgbClr val="A9B7CC"/>
                </a:solidFill>
                <a:latin typeface="Segoe UI"/>
              </a:rPr>
              <a:t>imputasi</a:t>
            </a:r>
            <a:r>
              <a:rPr sz="1300" b="0" dirty="0">
                <a:solidFill>
                  <a:srgbClr val="A9B7CC"/>
                </a:solidFill>
                <a:latin typeface="Segoe UI"/>
              </a:rPr>
              <a:t>.</a:t>
            </a:r>
          </a:p>
          <a:p>
            <a:pPr>
              <a:spcAft>
                <a:spcPts val="200"/>
              </a:spcAft>
            </a:pPr>
            <a:r>
              <a:rPr sz="1300" b="1" dirty="0" err="1">
                <a:solidFill>
                  <a:srgbClr val="FFFFFF"/>
                </a:solidFill>
                <a:latin typeface="Segoe UI"/>
              </a:rPr>
              <a:t>Catatan</a:t>
            </a:r>
            <a:r>
              <a:rPr sz="1300" b="1" dirty="0">
                <a:solidFill>
                  <a:srgbClr val="FFFFFF"/>
                </a:solidFill>
                <a:latin typeface="Segoe UI"/>
              </a:rPr>
              <a:t>: </a:t>
            </a:r>
            <a:r>
              <a:rPr sz="1300" b="0" dirty="0" err="1">
                <a:solidFill>
                  <a:srgbClr val="A9B7CC"/>
                </a:solidFill>
                <a:latin typeface="Segoe UI"/>
              </a:rPr>
              <a:t>distribusi</a:t>
            </a:r>
            <a:r>
              <a:rPr sz="1300" b="0" dirty="0">
                <a:solidFill>
                  <a:srgbClr val="A9B7CC"/>
                </a:solidFill>
                <a:latin typeface="Segoe UI"/>
              </a:rPr>
              <a:t> right-skew (mean $230 &gt;&gt; median $54) + 19 order B2B </a:t>
            </a:r>
            <a:r>
              <a:rPr sz="1300" b="0" dirty="0" err="1">
                <a:solidFill>
                  <a:srgbClr val="A9B7CC"/>
                </a:solidFill>
                <a:latin typeface="Segoe UI"/>
              </a:rPr>
              <a:t>raksasa</a:t>
            </a:r>
            <a:r>
              <a:rPr sz="1300" b="0" dirty="0">
                <a:solidFill>
                  <a:srgbClr val="A9B7CC"/>
                </a:solidFill>
                <a:latin typeface="Segoe UI"/>
              </a:rPr>
              <a:t> </a:t>
            </a:r>
            <a:r>
              <a:rPr sz="1300" b="0" dirty="0" err="1">
                <a:solidFill>
                  <a:srgbClr val="A9B7CC"/>
                </a:solidFill>
                <a:latin typeface="Segoe UI"/>
              </a:rPr>
              <a:t>dipertahankan</a:t>
            </a:r>
            <a:r>
              <a:rPr sz="1300" b="0" dirty="0">
                <a:solidFill>
                  <a:srgbClr val="A9B7CC"/>
                </a:solidFill>
                <a:latin typeface="Segoe UI"/>
              </a:rPr>
              <a:t> </a:t>
            </a:r>
            <a:r>
              <a:rPr sz="1300" b="0" dirty="0" err="1">
                <a:solidFill>
                  <a:srgbClr val="A9B7CC"/>
                </a:solidFill>
                <a:latin typeface="Segoe UI"/>
              </a:rPr>
              <a:t>sebagai</a:t>
            </a:r>
            <a:r>
              <a:rPr sz="1300" b="0" dirty="0">
                <a:solidFill>
                  <a:srgbClr val="A9B7CC"/>
                </a:solidFill>
                <a:latin typeface="Segoe UI"/>
              </a:rPr>
              <a:t> </a:t>
            </a:r>
            <a:r>
              <a:rPr sz="1300" b="0" dirty="0" err="1">
                <a:solidFill>
                  <a:srgbClr val="A9B7CC"/>
                </a:solidFill>
                <a:latin typeface="Segoe UI"/>
              </a:rPr>
              <a:t>sinyal</a:t>
            </a:r>
            <a:r>
              <a:rPr sz="1300" b="0" dirty="0">
                <a:solidFill>
                  <a:srgbClr val="A9B7CC"/>
                </a:solidFill>
                <a:latin typeface="Segoe UI"/>
              </a:rPr>
              <a:t> </a:t>
            </a:r>
            <a:r>
              <a:rPr sz="1300" b="0" dirty="0" err="1">
                <a:solidFill>
                  <a:srgbClr val="A9B7CC"/>
                </a:solidFill>
                <a:latin typeface="Segoe UI"/>
              </a:rPr>
              <a:t>asli</a:t>
            </a:r>
            <a:r>
              <a:rPr sz="1300" b="0" dirty="0">
                <a:solidFill>
                  <a:srgbClr val="A9B7CC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3FA7FF"/>
                </a:solidFill>
                <a:latin typeface="Segoe UI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828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Project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7772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A9B7CC"/>
                </a:solidFill>
                <a:latin typeface="Segoe UI"/>
              </a:rPr>
              <a:t>End-to-end: eksplorasi → dashboard → forecast → keputusan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234440"/>
            <a:ext cx="10698480" cy="25400"/>
          </a:xfrm>
          <a:prstGeom prst="rect">
            <a:avLst/>
          </a:prstGeom>
          <a:solidFill>
            <a:srgbClr val="3F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514600" cy="2377440"/>
          </a:xfrm>
          <a:prstGeom prst="roundRect">
            <a:avLst/>
          </a:prstGeom>
          <a:solidFill>
            <a:srgbClr val="1B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2148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 b="1">
                <a:solidFill>
                  <a:srgbClr val="3FA7FF"/>
                </a:solidFill>
                <a:latin typeface="Segoe UI"/>
              </a:rPr>
              <a:t>1. EDA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Segoe UI"/>
              </a:rPr>
              <a:t>01_EDA.ipynb
tren, musiman,
Pareto, outlier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31089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800" b="1">
                <a:solidFill>
                  <a:srgbClr val="3FA7FF"/>
                </a:solidFill>
                <a:latin typeface="Segoe UI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194560"/>
            <a:ext cx="2514600" cy="2377440"/>
          </a:xfrm>
          <a:prstGeom prst="roundRect">
            <a:avLst/>
          </a:prstGeom>
          <a:solidFill>
            <a:srgbClr val="1B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11879" y="2377440"/>
            <a:ext cx="2148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 b="1">
                <a:solidFill>
                  <a:srgbClr val="3FA7FF"/>
                </a:solidFill>
                <a:latin typeface="Segoe UI"/>
              </a:rPr>
              <a:t>2. Dashboard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Segoe UI"/>
              </a:rPr>
              <a:t>Streamlit
KPI + 6 tab
analisis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31089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800" b="1">
                <a:solidFill>
                  <a:srgbClr val="3FA7FF"/>
                </a:solidFill>
                <a:latin typeface="Segoe U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194560"/>
            <a:ext cx="2514600" cy="2377440"/>
          </a:xfrm>
          <a:prstGeom prst="roundRect">
            <a:avLst/>
          </a:prstGeom>
          <a:solidFill>
            <a:srgbClr val="1B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2377440"/>
            <a:ext cx="2148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 b="1">
                <a:solidFill>
                  <a:srgbClr val="3FA7FF"/>
                </a:solidFill>
                <a:latin typeface="Segoe UI"/>
              </a:rPr>
              <a:t>3. Forecast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Segoe UI"/>
              </a:rPr>
              <a:t>Prophet M/W
horizon 12 bln
&amp; 24 mgg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31089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800" b="1">
                <a:solidFill>
                  <a:srgbClr val="3FA7FF"/>
                </a:solidFill>
                <a:latin typeface="Segoe UI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39" y="2194560"/>
            <a:ext cx="2514600" cy="2377440"/>
          </a:xfrm>
          <a:prstGeom prst="roundRect">
            <a:avLst/>
          </a:prstGeom>
          <a:solidFill>
            <a:srgbClr val="1B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89719" y="2377440"/>
            <a:ext cx="2148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 b="1">
                <a:solidFill>
                  <a:srgbClr val="3FA7FF"/>
                </a:solidFill>
                <a:latin typeface="Segoe UI"/>
              </a:rPr>
              <a:t>4. Insight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Segoe UI"/>
              </a:rPr>
              <a:t>Business_Insights
rekomendasi
&amp; next step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3FA7FF"/>
                </a:solidFill>
                <a:latin typeface="Segoe UI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828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Sales Performance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7772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A9B7CC"/>
                </a:solidFill>
                <a:latin typeface="Segoe UI"/>
              </a:rPr>
              <a:t>Tren bulanan: tumbuh struktural + spike Q4 berulang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234440"/>
            <a:ext cx="10698480" cy="25400"/>
          </a:xfrm>
          <a:prstGeom prst="rect">
            <a:avLst/>
          </a:prstGeom>
          <a:solidFill>
            <a:srgbClr val="3F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monthly_sales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10881360" cy="3291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5120640"/>
            <a:ext cx="5349240" cy="1188720"/>
          </a:xfrm>
          <a:prstGeom prst="roundRect">
            <a:avLst/>
          </a:prstGeom>
          <a:solidFill>
            <a:srgbClr val="1B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521208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3FA7FF"/>
                </a:solidFill>
                <a:latin typeface="Segoe UI"/>
              </a:rPr>
              <a:t>KEY FINDING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Segoe UI"/>
              </a:rPr>
              <a:t>Sales 2014 $484rb → 2017 $733rb (+51%); MA30 naik konsisten.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5120640"/>
            <a:ext cx="5349240" cy="1188720"/>
          </a:xfrm>
          <a:prstGeom prst="roundRect">
            <a:avLst/>
          </a:prstGeom>
          <a:solidFill>
            <a:srgbClr val="1B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521208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3FA7FF"/>
                </a:solidFill>
                <a:latin typeface="Segoe UI"/>
              </a:rPr>
              <a:t>BUSINESS IMPACT</a:t>
            </a:r>
          </a:p>
          <a:p>
            <a:pPr>
              <a:spcAft>
                <a:spcPts val="200"/>
              </a:spcAft>
            </a:pPr>
            <a:r>
              <a:rPr sz="1200" b="0" dirty="0" err="1">
                <a:solidFill>
                  <a:srgbClr val="FFFFFF"/>
                </a:solidFill>
                <a:latin typeface="Segoe UI"/>
              </a:rPr>
              <a:t>Permintaan</a:t>
            </a:r>
            <a:r>
              <a:rPr sz="1200" b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Segoe UI"/>
              </a:rPr>
              <a:t>tumbuh</a:t>
            </a:r>
            <a:r>
              <a:rPr sz="1200" b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Segoe UI"/>
              </a:rPr>
              <a:t>struktural</a:t>
            </a:r>
            <a:r>
              <a:rPr sz="1200" b="0" dirty="0">
                <a:solidFill>
                  <a:srgbClr val="FFFFFF"/>
                </a:solidFill>
                <a:latin typeface="Segoe UI"/>
              </a:rPr>
              <a:t> — </a:t>
            </a:r>
            <a:r>
              <a:rPr sz="1200" b="0" dirty="0" err="1">
                <a:solidFill>
                  <a:srgbClr val="FFFFFF"/>
                </a:solidFill>
                <a:latin typeface="Segoe UI"/>
              </a:rPr>
              <a:t>kapasitas</a:t>
            </a:r>
            <a:r>
              <a:rPr sz="1200" b="0" dirty="0">
                <a:solidFill>
                  <a:srgbClr val="FFFFFF"/>
                </a:solidFill>
                <a:latin typeface="Segoe UI"/>
              </a:rPr>
              <a:t> &amp; modal </a:t>
            </a:r>
            <a:r>
              <a:rPr sz="1200" b="0" dirty="0" err="1">
                <a:solidFill>
                  <a:srgbClr val="FFFFFF"/>
                </a:solidFill>
                <a:latin typeface="Segoe UI"/>
              </a:rPr>
              <a:t>kerja</a:t>
            </a:r>
            <a:r>
              <a:rPr sz="1200" b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Segoe UI"/>
              </a:rPr>
              <a:t>harus</a:t>
            </a:r>
            <a:r>
              <a:rPr sz="1200" b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Segoe UI"/>
              </a:rPr>
              <a:t>ikut</a:t>
            </a:r>
            <a:r>
              <a:rPr sz="1200" b="0" dirty="0">
                <a:solidFill>
                  <a:srgbClr val="FFFFFF"/>
                </a:solidFill>
                <a:latin typeface="Segoe UI"/>
              </a:rPr>
              <a:t> naik.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3FA7FF"/>
                </a:solidFill>
                <a:latin typeface="Segoe UI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828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Sales by Category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7772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A9B7CC"/>
                </a:solidFill>
                <a:latin typeface="Segoe UI"/>
              </a:rPr>
              <a:t>Technology memimpin tipis — diversifikasi sehat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234440"/>
            <a:ext cx="10698480" cy="25400"/>
          </a:xfrm>
          <a:prstGeom prst="rect">
            <a:avLst/>
          </a:prstGeom>
          <a:solidFill>
            <a:srgbClr val="3F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ales_by_categ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6949440" cy="44805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55279" y="1645920"/>
            <a:ext cx="3566160" cy="3108960"/>
          </a:xfrm>
          <a:prstGeom prst="roundRect">
            <a:avLst/>
          </a:prstGeom>
          <a:solidFill>
            <a:srgbClr val="1B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0" y="1783080"/>
            <a:ext cx="30175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3FA7FF"/>
                </a:solidFill>
                <a:latin typeface="Segoe UI"/>
              </a:rPr>
              <a:t>KEY FINDING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Segoe UI"/>
              </a:rPr>
              <a:t>Technology $836rb &gt; Furniture $742rb &gt; Office Supplies $719rb.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3FA7FF"/>
                </a:solidFill>
                <a:latin typeface="Segoe UI"/>
              </a:rPr>
              <a:t>BUSINESS IMPACT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A9B7CC"/>
                </a:solidFill>
                <a:latin typeface="Segoe UI"/>
              </a:rPr>
              <a:t>Tech pendorong utama pertumbuhan; tak tergantung satu kategori.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3FA7FF"/>
                </a:solidFill>
                <a:latin typeface="Segoe UI"/>
              </a:rPr>
              <a:t>RECOMMENDATION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Segoe UI"/>
              </a:rPr>
              <a:t>Prioritaskan stok &amp; promo Technology di periode puncak.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3FA7FF"/>
                </a:solidFill>
                <a:latin typeface="Segoe UI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828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Sales by Region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7772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A9B7CC"/>
                </a:solidFill>
                <a:latin typeface="Segoe UI"/>
              </a:rPr>
              <a:t>West &amp; East memimpin — gap distribusi jelas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234440"/>
            <a:ext cx="10698480" cy="25400"/>
          </a:xfrm>
          <a:prstGeom prst="rect">
            <a:avLst/>
          </a:prstGeom>
          <a:solidFill>
            <a:srgbClr val="3F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ales_by_reg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6949440" cy="44805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55279" y="1645920"/>
            <a:ext cx="3566160" cy="3108960"/>
          </a:xfrm>
          <a:prstGeom prst="roundRect">
            <a:avLst/>
          </a:prstGeom>
          <a:solidFill>
            <a:srgbClr val="1B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0" y="1783080"/>
            <a:ext cx="30175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3FA7FF"/>
                </a:solidFill>
                <a:latin typeface="Segoe UI"/>
              </a:rPr>
              <a:t>KEY FINDING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Segoe UI"/>
              </a:rPr>
              <a:t>West $725rb &amp; East $679rb vs South $392rb.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3FA7FF"/>
                </a:solidFill>
                <a:latin typeface="Segoe UI"/>
              </a:rPr>
              <a:t>BUSINESS IMPACT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A9B7CC"/>
                </a:solidFill>
                <a:latin typeface="Segoe UI"/>
              </a:rPr>
              <a:t>Kekuatan pasar terkonsentrasi barat/timur.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3FA7FF"/>
                </a:solidFill>
                <a:latin typeface="Segoe UI"/>
              </a:rPr>
              <a:t>RECOMMENDATION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Segoe UI"/>
              </a:rPr>
              <a:t>Fokuskan armada &amp; safety stock West/East; diagnosis South/Central.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3FA7FF"/>
                </a:solidFill>
                <a:latin typeface="Segoe UI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828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Sales by Segment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7772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A9B7CC"/>
                </a:solidFill>
                <a:latin typeface="Segoe UI"/>
              </a:rPr>
              <a:t>Consumer dominan — leverage mass-market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234440"/>
            <a:ext cx="10698480" cy="25400"/>
          </a:xfrm>
          <a:prstGeom prst="rect">
            <a:avLst/>
          </a:prstGeom>
          <a:solidFill>
            <a:srgbClr val="3F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ales_by_seg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6949440" cy="44805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55279" y="1645920"/>
            <a:ext cx="3566160" cy="3108960"/>
          </a:xfrm>
          <a:prstGeom prst="roundRect">
            <a:avLst/>
          </a:prstGeom>
          <a:solidFill>
            <a:srgbClr val="1B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0" y="1783080"/>
            <a:ext cx="30175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3FA7FF"/>
                </a:solidFill>
                <a:latin typeface="Segoe UI"/>
              </a:rPr>
              <a:t>KEY FINDING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Segoe UI"/>
              </a:rPr>
              <a:t>Consumer $1,16jt (51%) &gt; Corporate $706rb &gt; Home Office $430rb.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3FA7FF"/>
                </a:solidFill>
                <a:latin typeface="Segoe UI"/>
              </a:rPr>
              <a:t>BUSINESS IMPACT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A9B7CC"/>
                </a:solidFill>
                <a:latin typeface="Segoe UI"/>
              </a:rPr>
              <a:t>Strategi mass-market memberi dampak terbesar.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3FA7FF"/>
                </a:solidFill>
                <a:latin typeface="Segoe UI"/>
              </a:rPr>
              <a:t>RECOMMENDATION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Segoe UI"/>
              </a:rPr>
              <a:t>Kampanye Consumer massal; program B2B khusus Corporate.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3FA7FF"/>
                </a:solidFill>
                <a:latin typeface="Segoe UI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828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Top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7772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A9B7CC"/>
                </a:solidFill>
                <a:latin typeface="Segoe UI"/>
              </a:rPr>
              <a:t>Hero SKU bernilai besar — satu stockout = ribuan dolar hilang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234440"/>
            <a:ext cx="10698480" cy="25400"/>
          </a:xfrm>
          <a:prstGeom prst="rect">
            <a:avLst/>
          </a:prstGeom>
          <a:solidFill>
            <a:srgbClr val="3F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top_products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6949440" cy="44805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55279" y="1645920"/>
            <a:ext cx="3566160" cy="3108960"/>
          </a:xfrm>
          <a:prstGeom prst="roundRect">
            <a:avLst/>
          </a:prstGeom>
          <a:solidFill>
            <a:srgbClr val="1B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0" y="1783080"/>
            <a:ext cx="3017520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1" dirty="0">
                <a:solidFill>
                  <a:srgbClr val="3FA7FF"/>
                </a:solidFill>
                <a:latin typeface="Segoe UI"/>
              </a:rPr>
              <a:t>KEY FINDING</a:t>
            </a:r>
          </a:p>
          <a:p>
            <a:pPr marL="228600" indent="-228600">
              <a:spcAft>
                <a:spcPts val="200"/>
              </a:spcAft>
              <a:buFont typeface="+mj-lt"/>
              <a:buAutoNum type="arabicPeriod"/>
            </a:pPr>
            <a:r>
              <a:rPr sz="1100" b="0" dirty="0">
                <a:solidFill>
                  <a:srgbClr val="FFFFFF"/>
                </a:solidFill>
                <a:latin typeface="Segoe UI"/>
              </a:rPr>
              <a:t>Canon </a:t>
            </a:r>
            <a:r>
              <a:rPr sz="1100" b="0" dirty="0" err="1">
                <a:solidFill>
                  <a:srgbClr val="FFFFFF"/>
                </a:solidFill>
                <a:latin typeface="Segoe UI"/>
              </a:rPr>
              <a:t>imageCLASS</a:t>
            </a:r>
            <a:r>
              <a:rPr sz="1100" b="0" dirty="0">
                <a:solidFill>
                  <a:srgbClr val="FFFFFF"/>
                </a:solidFill>
                <a:latin typeface="Segoe UI"/>
              </a:rPr>
              <a:t> 2200 $61,6rb top-1</a:t>
            </a:r>
            <a:endParaRPr lang="en-US" sz="1100" b="0" dirty="0">
              <a:solidFill>
                <a:srgbClr val="FFFFFF"/>
              </a:solidFill>
              <a:latin typeface="Segoe UI"/>
            </a:endParaRPr>
          </a:p>
          <a:p>
            <a:pPr marL="228600" indent="-228600">
              <a:spcAft>
                <a:spcPts val="200"/>
              </a:spcAft>
              <a:buFont typeface="+mj-lt"/>
              <a:buAutoNum type="arabicPeriod"/>
            </a:pPr>
            <a:r>
              <a:rPr sz="1100" b="0" dirty="0">
                <a:solidFill>
                  <a:srgbClr val="FFFFFF"/>
                </a:solidFill>
                <a:latin typeface="Segoe UI"/>
              </a:rPr>
              <a:t>hero = Phones/Chairs/Storage.</a:t>
            </a:r>
          </a:p>
          <a:p>
            <a:pPr>
              <a:spcAft>
                <a:spcPts val="200"/>
              </a:spcAft>
            </a:pPr>
            <a:r>
              <a:rPr sz="1000" b="1" dirty="0">
                <a:solidFill>
                  <a:srgbClr val="3FA7FF"/>
                </a:solidFill>
                <a:latin typeface="Segoe UI"/>
              </a:rPr>
              <a:t>BUSINESS IMPACT</a:t>
            </a:r>
          </a:p>
          <a:p>
            <a:pPr>
              <a:spcAft>
                <a:spcPts val="200"/>
              </a:spcAft>
            </a:pPr>
            <a:r>
              <a:rPr sz="1100" b="0" dirty="0" err="1">
                <a:solidFill>
                  <a:srgbClr val="A9B7CC"/>
                </a:solidFill>
                <a:latin typeface="Segoe UI"/>
              </a:rPr>
              <a:t>Sedikit</a:t>
            </a:r>
            <a:r>
              <a:rPr sz="1100" b="0" dirty="0">
                <a:solidFill>
                  <a:srgbClr val="A9B7CC"/>
                </a:solidFill>
                <a:latin typeface="Segoe UI"/>
              </a:rPr>
              <a:t> SKU </a:t>
            </a:r>
            <a:r>
              <a:rPr sz="1100" b="0" dirty="0" err="1">
                <a:solidFill>
                  <a:srgbClr val="A9B7CC"/>
                </a:solidFill>
                <a:latin typeface="Segoe UI"/>
              </a:rPr>
              <a:t>menopang</a:t>
            </a:r>
            <a:r>
              <a:rPr sz="1100" b="0" dirty="0">
                <a:solidFill>
                  <a:srgbClr val="A9B7CC"/>
                </a:solidFill>
                <a:latin typeface="Segoe UI"/>
              </a:rPr>
              <a:t> </a:t>
            </a:r>
            <a:r>
              <a:rPr sz="1100" b="0" dirty="0" err="1">
                <a:solidFill>
                  <a:srgbClr val="A9B7CC"/>
                </a:solidFill>
                <a:latin typeface="Segoe UI"/>
              </a:rPr>
              <a:t>mayoritas</a:t>
            </a:r>
            <a:r>
              <a:rPr sz="1100" b="0" dirty="0">
                <a:solidFill>
                  <a:srgbClr val="A9B7CC"/>
                </a:solidFill>
                <a:latin typeface="Segoe UI"/>
              </a:rPr>
              <a:t> revenue (Pareto).</a:t>
            </a:r>
          </a:p>
          <a:p>
            <a:pPr>
              <a:spcAft>
                <a:spcPts val="200"/>
              </a:spcAft>
            </a:pPr>
            <a:r>
              <a:rPr sz="1000" b="1" dirty="0">
                <a:solidFill>
                  <a:srgbClr val="3FA7FF"/>
                </a:solidFill>
                <a:latin typeface="Segoe UI"/>
              </a:rPr>
              <a:t>RECOMMENDATION</a:t>
            </a:r>
          </a:p>
          <a:p>
            <a:pPr>
              <a:spcAft>
                <a:spcPts val="200"/>
              </a:spcAft>
            </a:pPr>
            <a:r>
              <a:rPr sz="1100" b="0" dirty="0">
                <a:solidFill>
                  <a:srgbClr val="FFFFFF"/>
                </a:solidFill>
                <a:latin typeface="Segoe UI"/>
              </a:rPr>
              <a:t>Availability + forecast per-SKU hero; safety stock </a:t>
            </a:r>
            <a:r>
              <a:rPr sz="1100" b="0" dirty="0" err="1">
                <a:solidFill>
                  <a:srgbClr val="FFFFFF"/>
                </a:solidFill>
                <a:latin typeface="Segoe UI"/>
              </a:rPr>
              <a:t>ketat</a:t>
            </a:r>
            <a:r>
              <a:rPr sz="1100" b="0" dirty="0">
                <a:solidFill>
                  <a:srgbClr val="FFFFFF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3FA7FF"/>
                </a:solidFill>
                <a:latin typeface="Segoe UI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828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Profitability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7772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A9B7CC"/>
                </a:solidFill>
                <a:latin typeface="Segoe UI"/>
              </a:rPr>
              <a:t>Diskon menekan laba — promo butuh rem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234440"/>
            <a:ext cx="10698480" cy="25400"/>
          </a:xfrm>
          <a:prstGeom prst="rect">
            <a:avLst/>
          </a:prstGeom>
          <a:solidFill>
            <a:srgbClr val="3F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catter_discount_pro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6949440" cy="44805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55279" y="1645920"/>
            <a:ext cx="3566160" cy="3108960"/>
          </a:xfrm>
          <a:prstGeom prst="roundRect">
            <a:avLst/>
          </a:prstGeom>
          <a:solidFill>
            <a:srgbClr val="1B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0" y="1783080"/>
            <a:ext cx="30175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3FA7FF"/>
                </a:solidFill>
                <a:latin typeface="Segoe UI"/>
              </a:rPr>
              <a:t>ZONA MARGIN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Segoe UI"/>
              </a:rPr>
              <a:t>● High Sales / High Profit — pertahankan &amp; promosikan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A9B7CC"/>
                </a:solidFill>
                <a:latin typeface="Segoe UI"/>
              </a:rPr>
              <a:t>● High Sales / Low Profit — batasi diskon, repricing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A9B7CC"/>
                </a:solidFill>
                <a:latin typeface="Segoe UI"/>
              </a:rPr>
              <a:t>● Low Sales / Low Profit — kandidat delisting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35C48A"/>
                </a:solidFill>
                <a:latin typeface="Segoe UI"/>
              </a:rPr>
              <a:t>Korelasi Discount–Profit −0,22; Furniture ekor rugi terdalam.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3FA7FF"/>
                </a:solidFill>
                <a:latin typeface="Segoe UI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828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Seasonality — Q4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7772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A9B7CC"/>
                </a:solidFill>
                <a:latin typeface="Segoe UI"/>
              </a:rPr>
              <a:t>November–Desember puncak; Februari titik terendah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234440"/>
            <a:ext cx="10698480" cy="25400"/>
          </a:xfrm>
          <a:prstGeom prst="rect">
            <a:avLst/>
          </a:prstGeom>
          <a:solidFill>
            <a:srgbClr val="3F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easonality_mon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10881360" cy="3291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5120640"/>
            <a:ext cx="5349240" cy="1188720"/>
          </a:xfrm>
          <a:prstGeom prst="roundRect">
            <a:avLst/>
          </a:prstGeom>
          <a:solidFill>
            <a:srgbClr val="1B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521208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3FA7FF"/>
                </a:solidFill>
                <a:latin typeface="Segoe UI"/>
              </a:rPr>
              <a:t>KEY FINDING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Segoe UI"/>
              </a:rPr>
              <a:t>Q4 = 38% revenue tahunan; Nov $352rb, Feb $60rb; Rabu anomali rendah.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5120640"/>
            <a:ext cx="5349240" cy="1188720"/>
          </a:xfrm>
          <a:prstGeom prst="roundRect">
            <a:avLst/>
          </a:prstGeom>
          <a:solidFill>
            <a:srgbClr val="1B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521208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3FA7FF"/>
                </a:solidFill>
                <a:latin typeface="Segoe UI"/>
              </a:rPr>
              <a:t>RECOMMENDATION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Segoe UI"/>
              </a:rPr>
              <a:t>Naikkan stok Q4 (Sep–Des); just-in-time di Q1; promo di hari kuat.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3FA7FF"/>
                </a:solidFill>
                <a:latin typeface="Segoe UI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828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Prophet Forecast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7772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A9B7CC"/>
                </a:solidFill>
                <a:latin typeface="Segoe UI"/>
              </a:rPr>
              <a:t>Dua horizon: bulanan strategis + mingguan operasional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234440"/>
            <a:ext cx="10698480" cy="25400"/>
          </a:xfrm>
          <a:prstGeom prst="rect">
            <a:avLst/>
          </a:prstGeom>
          <a:solidFill>
            <a:srgbClr val="3F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orecast_readi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10881360" cy="3291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5120640"/>
            <a:ext cx="5349240" cy="1188720"/>
          </a:xfrm>
          <a:prstGeom prst="roundRect">
            <a:avLst/>
          </a:prstGeom>
          <a:solidFill>
            <a:srgbClr val="1B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521208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3FA7FF"/>
                </a:solidFill>
                <a:latin typeface="Segoe UI"/>
              </a:rPr>
              <a:t>MENGAPA PROPHET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Segoe UI"/>
              </a:rPr>
              <a:t>Tangkap trend + yearly/weekly seasonality otomatis; toleran outlier &amp; missing dates.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5120640"/>
            <a:ext cx="5349240" cy="1188720"/>
          </a:xfrm>
          <a:prstGeom prst="roundRect">
            <a:avLst/>
          </a:prstGeom>
          <a:solidFill>
            <a:srgbClr val="1B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521208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3FA7FF"/>
                </a:solidFill>
                <a:latin typeface="Segoe UI"/>
              </a:rPr>
              <a:t>CARA PAKAI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Segoe UI"/>
              </a:rPr>
              <a:t>Mingguan → stok operasional (24 mgg); Bulanan → target strategis (12 bln) + interval risiko.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3FA7FF"/>
                </a:solidFill>
                <a:latin typeface="Segoe UI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828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Streamlit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7772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A9B7CC"/>
                </a:solidFill>
                <a:latin typeface="Segoe UI"/>
              </a:rPr>
              <a:t>Interaktif: KPI, filter, forecast M/W, download CSV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234440"/>
            <a:ext cx="10698480" cy="25400"/>
          </a:xfrm>
          <a:prstGeom prst="rect">
            <a:avLst/>
          </a:prstGeom>
          <a:solidFill>
            <a:srgbClr val="3F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ales_by_subcateg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6949440" cy="44805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55279" y="1645920"/>
            <a:ext cx="3566160" cy="1783080"/>
          </a:xfrm>
          <a:prstGeom prst="roundRect">
            <a:avLst/>
          </a:prstGeom>
          <a:solidFill>
            <a:srgbClr val="1B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0" y="178308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1" dirty="0">
                <a:solidFill>
                  <a:srgbClr val="3FA7FF"/>
                </a:solidFill>
                <a:latin typeface="Segoe UI"/>
              </a:rPr>
              <a:t>FITUR APP</a:t>
            </a:r>
          </a:p>
          <a:p>
            <a:pPr>
              <a:spcAft>
                <a:spcPts val="200"/>
              </a:spcAft>
            </a:pPr>
            <a:r>
              <a:rPr sz="1200" b="0" dirty="0">
                <a:solidFill>
                  <a:srgbClr val="FFFFFF"/>
                </a:solidFill>
                <a:latin typeface="Segoe UI"/>
              </a:rPr>
              <a:t>✓ KPI: Sales, Profit, Orders, Quantity</a:t>
            </a:r>
          </a:p>
          <a:p>
            <a:pPr>
              <a:spcAft>
                <a:spcPts val="200"/>
              </a:spcAft>
            </a:pPr>
            <a:r>
              <a:rPr sz="1200" b="0" dirty="0">
                <a:solidFill>
                  <a:srgbClr val="FFFFFF"/>
                </a:solidFill>
                <a:latin typeface="Segoe UI"/>
              </a:rPr>
              <a:t>✓ Filter </a:t>
            </a:r>
            <a:r>
              <a:rPr sz="1200" b="0" dirty="0" err="1">
                <a:solidFill>
                  <a:srgbClr val="FFFFFF"/>
                </a:solidFill>
                <a:latin typeface="Segoe UI"/>
              </a:rPr>
              <a:t>tanggal</a:t>
            </a:r>
            <a:r>
              <a:rPr sz="1200" b="0" dirty="0">
                <a:solidFill>
                  <a:srgbClr val="FFFFFF"/>
                </a:solidFill>
                <a:latin typeface="Segoe UI"/>
              </a:rPr>
              <a:t> + region</a:t>
            </a:r>
          </a:p>
          <a:p>
            <a:pPr>
              <a:spcAft>
                <a:spcPts val="200"/>
              </a:spcAft>
            </a:pPr>
            <a:r>
              <a:rPr sz="1200" b="0" dirty="0">
                <a:solidFill>
                  <a:srgbClr val="FFFFFF"/>
                </a:solidFill>
                <a:latin typeface="Segoe UI"/>
              </a:rPr>
              <a:t>✓ 6 tab: Category → Top Products</a:t>
            </a:r>
          </a:p>
          <a:p>
            <a:pPr>
              <a:spcAft>
                <a:spcPts val="200"/>
              </a:spcAft>
            </a:pPr>
            <a:r>
              <a:rPr sz="1200" b="0" dirty="0">
                <a:solidFill>
                  <a:srgbClr val="FFFFFF"/>
                </a:solidFill>
                <a:latin typeface="Segoe UI"/>
              </a:rPr>
              <a:t>✓ Forecast M/W + MAE/RMSE</a:t>
            </a:r>
          </a:p>
          <a:p>
            <a:pPr>
              <a:spcAft>
                <a:spcPts val="200"/>
              </a:spcAft>
            </a:pPr>
            <a:r>
              <a:rPr sz="1200" b="0" dirty="0">
                <a:solidFill>
                  <a:srgbClr val="FFFFFF"/>
                </a:solidFill>
                <a:latin typeface="Segoe UI"/>
              </a:rPr>
              <a:t>✓ Download forecast CSV</a:t>
            </a:r>
          </a:p>
          <a:p>
            <a:pPr>
              <a:spcAft>
                <a:spcPts val="200"/>
              </a:spcAft>
            </a:pPr>
            <a:r>
              <a:rPr sz="1200" b="0" dirty="0">
                <a:solidFill>
                  <a:srgbClr val="35C48A"/>
                </a:solidFill>
                <a:latin typeface="Segoe UI"/>
              </a:rPr>
              <a:t>✓ Business Insights </a:t>
            </a:r>
            <a:r>
              <a:rPr sz="1200" b="0" dirty="0" err="1">
                <a:solidFill>
                  <a:srgbClr val="35C48A"/>
                </a:solidFill>
                <a:latin typeface="Segoe UI"/>
              </a:rPr>
              <a:t>siap</a:t>
            </a:r>
            <a:r>
              <a:rPr sz="1200" b="0" dirty="0">
                <a:solidFill>
                  <a:srgbClr val="35C48A"/>
                </a:solidFill>
                <a:latin typeface="Segoe UI"/>
              </a:rPr>
              <a:t> </a:t>
            </a:r>
            <a:r>
              <a:rPr sz="1200" b="0" dirty="0" err="1">
                <a:solidFill>
                  <a:srgbClr val="35C48A"/>
                </a:solidFill>
                <a:latin typeface="Segoe UI"/>
              </a:rPr>
              <a:t>eksekusi</a:t>
            </a:r>
            <a:endParaRPr sz="1200" b="0" dirty="0">
              <a:solidFill>
                <a:srgbClr val="35C48A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3FA7FF"/>
                </a:solidFill>
                <a:latin typeface="Segoe UI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828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Business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7772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A9B7CC"/>
                </a:solidFill>
                <a:latin typeface="Segoe UI"/>
              </a:rPr>
              <a:t>Empat langkah prioritas dari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234440"/>
            <a:ext cx="10698480" cy="25400"/>
          </a:xfrm>
          <a:prstGeom prst="rect">
            <a:avLst/>
          </a:prstGeom>
          <a:solidFill>
            <a:srgbClr val="3F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514600" cy="2560320"/>
          </a:xfrm>
          <a:prstGeom prst="roundRect">
            <a:avLst/>
          </a:prstGeom>
          <a:solidFill>
            <a:srgbClr val="1B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2148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3FA7FF"/>
                </a:solidFill>
                <a:latin typeface="Segoe UI"/>
              </a:rPr>
              <a:t>1. Stok Q4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Segoe UI"/>
              </a:rPr>
              <a:t>Naikkan inventory Sep–Des; just-in-time di Q1.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2194560"/>
            <a:ext cx="2514600" cy="2560320"/>
          </a:xfrm>
          <a:prstGeom prst="roundRect">
            <a:avLst/>
          </a:prstGeom>
          <a:solidFill>
            <a:srgbClr val="1B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11879" y="2377440"/>
            <a:ext cx="2148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3FA7FF"/>
                </a:solidFill>
                <a:latin typeface="Segoe UI"/>
              </a:rPr>
              <a:t>2. Fokus Tech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Segoe UI"/>
              </a:rPr>
              <a:t>Stok &amp; promo kategori Technology di puncak.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194560"/>
            <a:ext cx="2514600" cy="2560320"/>
          </a:xfrm>
          <a:prstGeom prst="roundRect">
            <a:avLst/>
          </a:prstGeom>
          <a:solidFill>
            <a:srgbClr val="1B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2148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3FA7FF"/>
                </a:solidFill>
                <a:latin typeface="Segoe UI"/>
              </a:rPr>
              <a:t>3. Kuatkan West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Segoe UI"/>
              </a:rPr>
              <a:t>Armada &amp; safety stock West/East; bedah South.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6839" y="2194560"/>
            <a:ext cx="2514600" cy="2560320"/>
          </a:xfrm>
          <a:prstGeom prst="roundRect">
            <a:avLst/>
          </a:prstGeom>
          <a:solidFill>
            <a:srgbClr val="1B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89719" y="2377440"/>
            <a:ext cx="2148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3FA7FF"/>
                </a:solidFill>
                <a:latin typeface="Segoe UI"/>
              </a:rPr>
              <a:t>4. Jaga Margin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Segoe UI"/>
              </a:rPr>
              <a:t>Batasi diskon &gt;30%; lindungi SKU margin tebal.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6459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Segoe UI"/>
              </a:rPr>
              <a:t>Dari Data → Keputusan.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A9B7CC"/>
                </a:solidFill>
                <a:latin typeface="Segoe UI"/>
              </a:rPr>
              <a:t>Forecasting menjaga stok tepat, target realistis, dan margin aman — nilai bisnis terukur.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0" y="3931920"/>
            <a:ext cx="4480560" cy="1463040"/>
          </a:xfrm>
          <a:prstGeom prst="roundRect">
            <a:avLst/>
          </a:prstGeom>
          <a:solidFill>
            <a:srgbClr val="1B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0" y="4069080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dirty="0" err="1">
                <a:solidFill>
                  <a:srgbClr val="FFFFFF"/>
                </a:solidFill>
                <a:latin typeface="Segoe UI"/>
              </a:rPr>
              <a:t>Mafud</a:t>
            </a:r>
            <a:r>
              <a:rPr sz="1400" b="1" dirty="0">
                <a:solidFill>
                  <a:srgbClr val="FFFFFF"/>
                </a:solidFill>
                <a:latin typeface="Segoe UI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Segoe UI"/>
              </a:rPr>
              <a:t>Satrio</a:t>
            </a:r>
            <a:r>
              <a:rPr sz="1400" b="1" dirty="0">
                <a:solidFill>
                  <a:srgbClr val="FFFFFF"/>
                </a:solidFill>
                <a:latin typeface="Segoe UI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Segoe UI"/>
              </a:rPr>
              <a:t>Setiono</a:t>
            </a:r>
            <a:r>
              <a:rPr sz="1400" b="1" dirty="0">
                <a:solidFill>
                  <a:srgbClr val="FFFFFF"/>
                </a:solidFill>
                <a:latin typeface="Segoe UI"/>
              </a:rPr>
              <a:t>  •  Data Analyst</a:t>
            </a:r>
          </a:p>
          <a:p>
            <a:pPr algn="ctr">
              <a:spcAft>
                <a:spcPts val="200"/>
              </a:spcAft>
            </a:pPr>
            <a:r>
              <a:rPr sz="1200" b="0" dirty="0">
                <a:solidFill>
                  <a:srgbClr val="A9B7CC"/>
                </a:solidFill>
                <a:latin typeface="Segoe UI"/>
              </a:rPr>
              <a:t>GitHub • LinkedIn • Portfolio — QR &amp; </a:t>
            </a:r>
            <a:r>
              <a:rPr sz="1200" b="0" dirty="0" err="1">
                <a:solidFill>
                  <a:srgbClr val="A9B7CC"/>
                </a:solidFill>
                <a:latin typeface="Segoe UI"/>
              </a:rPr>
              <a:t>tautan</a:t>
            </a:r>
            <a:r>
              <a:rPr sz="1200" b="0" dirty="0">
                <a:solidFill>
                  <a:srgbClr val="A9B7CC"/>
                </a:solidFill>
                <a:latin typeface="Segoe UI"/>
              </a:rPr>
              <a:t> </a:t>
            </a:r>
            <a:r>
              <a:rPr sz="1200" b="0" dirty="0" err="1">
                <a:solidFill>
                  <a:srgbClr val="A9B7CC"/>
                </a:solidFill>
                <a:latin typeface="Segoe UI"/>
              </a:rPr>
              <a:t>menyusul</a:t>
            </a:r>
            <a:endParaRPr sz="1200" b="0" dirty="0">
              <a:solidFill>
                <a:srgbClr val="A9B7CC"/>
              </a:solidFill>
              <a:latin typeface="Segoe U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816</Words>
  <Application>Microsoft Office PowerPoint</Application>
  <PresentationFormat>Widescreen</PresentationFormat>
  <Paragraphs>144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MAFUD SATRIO SETIONO</cp:lastModifiedBy>
  <cp:revision>2</cp:revision>
  <dcterms:created xsi:type="dcterms:W3CDTF">2013-01-27T09:14:16Z</dcterms:created>
  <dcterms:modified xsi:type="dcterms:W3CDTF">2026-09-15T15:17:26Z</dcterms:modified>
  <cp:category/>
</cp:coreProperties>
</file>